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F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3150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ParchiVisa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60A5FA"/>
                </a:solidFill>
              </a:rPr>
              <a:t>AI-Powered Visa Risk Assessment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202996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</a:rPr>
              <a:t>Know your approval odds before you waste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</a:rPr>
              <a:t>EUR 185 on a rejected application.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761488"/>
            <a:ext cx="219456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94A3B8"/>
                </a:solidFill>
              </a:rPr>
              <a:t>Schengen  |  USA  |  UK  |  Australia  |  Canada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14447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0" y="1078992"/>
            <a:ext cx="1261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</a:rPr>
              <a:t>50%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126480" y="162763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Schengen rejection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rate (Pakistan)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635240" y="1005840"/>
            <a:ext cx="14447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26680" y="1078992"/>
            <a:ext cx="1261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7316"/>
                </a:solidFill>
              </a:rPr>
              <a:t>185+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726680" y="162763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EUR lost per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failed application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2240280"/>
            <a:ext cx="14447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2313432"/>
            <a:ext cx="1261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82F6"/>
                </a:solidFill>
              </a:rPr>
              <a:t>$12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26480" y="286207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Full report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price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35240" y="2240280"/>
            <a:ext cx="14447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26680" y="2313432"/>
            <a:ext cx="1261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</a:rPr>
              <a:t>~99%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726680" y="286207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Gross margin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per sale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</a:rPr>
              <a:t>Built for Pakistani applicants  |  NIC Application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3B82F6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Visa applicants are flying blind.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11480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EF4444"/>
                </a:solidFill>
              </a:rPr>
              <a:t>1 in 2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94360" y="217627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1F5F9"/>
                </a:solidFill>
              </a:rPr>
              <a:t>Pakistani Schengen visa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1F5F9"/>
                </a:solidFill>
              </a:rPr>
              <a:t>applications are rejected.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27980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Source: European Commission Schengen Statistics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828032" y="1298448"/>
            <a:ext cx="4041648" cy="51206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38988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F4444"/>
                </a:solidFill>
              </a:rPr>
              <a:t>EUR185+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63640" y="140817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Non-refundable fee lost per rejected attempt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28032" y="1892808"/>
            <a:ext cx="4041648" cy="51206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9842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B82F6"/>
                </a:solidFill>
              </a:rPr>
              <a:t>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63640" y="200253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Explanations given in rejection letters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28032" y="2487168"/>
            <a:ext cx="4041648" cy="51206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57860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97316"/>
                </a:solidFill>
              </a:rPr>
              <a:t>PKR 20K+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63640" y="259689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What consultants charge for vague advice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28032" y="3081528"/>
            <a:ext cx="4041648" cy="51206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317296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B308"/>
                </a:solidFill>
              </a:rPr>
              <a:t>Unknown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63640" y="319125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Why your application actually failed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703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</a:rPr>
              <a:t>Applicants don't know why they fail. They pay, apply, and pray.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3B82F6"/>
                </a:solidFill>
              </a:rPr>
              <a:t>THE SOLUTION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ParchiVisa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AI scores your visa profile across the 4 criteria embassies actually use — and tells you exactly what to fix.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2633472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633472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783080"/>
            <a:ext cx="475488" cy="47548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235915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</a:rPr>
              <a:t>Answer 16 Questions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2743200"/>
            <a:ext cx="22494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</a:rPr>
              <a:t>A 5-step form covering finances, home ties, documentation and travel history. Takes under 5 minutes.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572768"/>
            <a:ext cx="2633472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572768"/>
            <a:ext cx="2633472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93008" y="1783080"/>
            <a:ext cx="475488" cy="47548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93008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93008" y="235915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</a:rPr>
              <a:t>AI Scores Your Profile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93008" y="2743200"/>
            <a:ext cx="22494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</a:rPr>
              <a:t>Claude Opus 4.5 evaluates your answers against the exact criteria Schengen and other embassies weight most.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572768"/>
            <a:ext cx="2633472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1572768"/>
            <a:ext cx="2633472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27648" y="1783080"/>
            <a:ext cx="475488" cy="47548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27648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27648" y="235915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</a:rPr>
              <a:t>Unlock Fixes for $12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27648" y="2743200"/>
            <a:ext cx="22494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</a:rPr>
              <a:t>See every weak category and get specific, actionable steps to fix your application before you spend EUR 185.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</a:rPr>
              <a:t>Currently covering:  Schengen  |  USA  |  UK  |  Australia  |  Canada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3B82F6"/>
                </a:solidFill>
              </a:rPr>
              <a:t>HOW IT WORKS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form to full report in 5 minutes.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298448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4632" y="1463040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4632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</a:rPr>
              <a:t>Land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847088"/>
            <a:ext cx="16733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Reads the 50% stat. Clicks 'Check My Visa Risk — Free'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13432" y="1920240"/>
            <a:ext cx="146304" cy="274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59736" y="1298448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24328" y="1463040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24328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54096" y="146304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</a:rPr>
              <a:t>Assess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24328" y="1847088"/>
            <a:ext cx="16733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Fills 16 questions across 5 steps in under 5 minutes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53128" y="1920240"/>
            <a:ext cx="146304" cy="274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99432" y="1298448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64024" y="1463040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64024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93792" y="146304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</a:rPr>
              <a:t>AI Scores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64024" y="1847088"/>
            <a:ext cx="16733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Claude Opus analyses 16 data points. Returns 0-100 risk score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92824" y="1920240"/>
            <a:ext cx="146304" cy="274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39128" y="1298448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03720" y="1463040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0372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33488" y="146304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</a:rPr>
              <a:t>Free Result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1847088"/>
            <a:ext cx="16733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Sees score + risk label. 2 worst categories teased. Fixes locked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852928"/>
            <a:ext cx="279806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4632" y="3017520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3017520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</a:rPr>
              <a:t>Pays $12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" y="3401568"/>
            <a:ext cx="24780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Clicks 'Unlock Full Report'. Goes to LemonSqueezy checkout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18104" y="3520440"/>
            <a:ext cx="146304" cy="274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64408" y="2852928"/>
            <a:ext cx="279806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429000" y="3017520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2900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858768" y="3017520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</a:rPr>
              <a:t>Webhook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29000" y="3401568"/>
            <a:ext cx="24780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Payment confirmed. Report marked paid in database instantly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62472" y="3520440"/>
            <a:ext cx="146304" cy="274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208776" y="2852928"/>
            <a:ext cx="279806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373368" y="3017520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73368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03136" y="3017520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</a:rPr>
              <a:t>Full Report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73368" y="3401568"/>
            <a:ext cx="24780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All 4 categories unlocked. Full email report delivered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3B82F6"/>
                </a:solidFill>
              </a:rPr>
              <a:t>MARKET OPPORTUNITY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massive, underserved market.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51760" cy="2697480"/>
          </a:xfrm>
          <a:prstGeom prst="rect">
            <a:avLst/>
          </a:prstGeom>
          <a:solidFill>
            <a:srgbClr val="1A2E4A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0A5FA"/>
                </a:solidFill>
              </a:rPr>
              <a:t>TAM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$72M / yr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24505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4A3B8"/>
                </a:solidFill>
              </a:rPr>
              <a:t>Total Addressable Market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271576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All South Asian applicants for Western visas. 6M+ annual applications at $12 per assessment.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298448"/>
            <a:ext cx="2651760" cy="2697480"/>
          </a:xfrm>
          <a:prstGeom prst="rect">
            <a:avLst/>
          </a:prstGeom>
          <a:solidFill>
            <a:srgbClr val="1A2E4A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444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</a:rPr>
              <a:t>SAM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$12M / yr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429000" y="24505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4A3B8"/>
                </a:solidFill>
              </a:rPr>
              <a:t>Serviceable Market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0" y="271576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Pakistani applicants to Schengen, US, UK, AU, CA. ~1M applications per year.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298448"/>
            <a:ext cx="2651760" cy="2697480"/>
          </a:xfrm>
          <a:prstGeom prst="rect">
            <a:avLst/>
          </a:prstGeom>
          <a:solidFill>
            <a:srgbClr val="1A2E4A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444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</a:rPr>
              <a:t>SOM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6364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$144K / yr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263640" y="24505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4A3B8"/>
                </a:solidFill>
              </a:rPr>
              <a:t>Obtainable — Yr 1-2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309360" y="271576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1% capture = 12,000 paying users at $12. Conservative Year 1-2 target.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133088"/>
            <a:ext cx="841248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1F5F9"/>
                </a:solidFill>
              </a:rPr>
              <a:t>Pakistan alone files 200,000+ Schengen applications per year with a 50%+ rejection rate. Every single one of those rejections is a potential ParchiVisa customer.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3B82F6"/>
                </a:solidFill>
              </a:rPr>
              <a:t>BUSINESS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scalable, high-margin.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One-time $12 payment unlocks the full report. No subscriptions. No friction.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263347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633472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783080"/>
            <a:ext cx="475488" cy="47548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2359152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3B82F6"/>
                </a:solidFill>
              </a:rPr>
              <a:t>HOOK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258775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</a:rPr>
              <a:t>Free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" y="299923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</a:rPr>
              <a:t>Risk 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3310128"/>
            <a:ext cx="2249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User gets their score (e.g. 58/100 — High Risk). Enough to create urgency. Zero payment needed.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27248" y="265176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91840" y="1572768"/>
            <a:ext cx="263347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0" y="1572768"/>
            <a:ext cx="2633472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93008" y="1783080"/>
            <a:ext cx="475488" cy="47548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93008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93008" y="2359152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8B5CF6"/>
                </a:solidFill>
              </a:rPr>
              <a:t>PAYWALL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93008" y="258775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</a:rPr>
              <a:t>$12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93008" y="299923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</a:rPr>
              <a:t>Full Breakdown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93008" y="3310128"/>
            <a:ext cx="2249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4-category breakdown with specific AI-generated fixes. Unlocks the exact weaknesses and how to resolve them.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61888" y="265176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26480" y="1572768"/>
            <a:ext cx="263347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26480" y="1572768"/>
            <a:ext cx="2633472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27648" y="1783080"/>
            <a:ext cx="475488" cy="47548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27648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27648" y="2359152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22C55E"/>
                </a:solidFill>
              </a:rPr>
              <a:t>DELIVER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27648" y="258775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</a:rPr>
              <a:t>Instant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27648" y="299923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</a:rPr>
              <a:t>Email Report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27648" y="3310128"/>
            <a:ext cx="2249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Full HTML report delivered to inbox via Resend API seconds after payment. Report accessible via URL forever.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5079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Future: Premium subscription  |  Consultation upsell  |  PDF add-on  |  B2B partner programme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3B82F6"/>
                </a:solidFill>
              </a:rPr>
              <a:t>UNIT ECONOMICS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 are embarrassingly good.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3977640" cy="31272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94A3B8"/>
                </a:solidFill>
              </a:rPr>
              <a:t>PER ASSESSMENT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1810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Claude Opus 4.5 (~500 tokens)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10128" y="18105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1F5F9"/>
                </a:solidFill>
              </a:rPr>
              <a:t>$0.05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" y="22128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PostgreSQL write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10128" y="221284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1F5F9"/>
                </a:solidFill>
              </a:rPr>
              <a:t>&lt; $0.001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" y="26151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Resend email delivery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10128" y="261518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1F5F9"/>
                </a:solidFill>
              </a:rPr>
              <a:t>$0.001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" y="3017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Frontend — Vercel free tier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10128" y="30175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1F5F9"/>
                </a:solidFill>
              </a:rPr>
              <a:t>$0.00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" y="3438144"/>
            <a:ext cx="3639312" cy="18288"/>
          </a:xfrm>
          <a:prstGeom prst="rect">
            <a:avLst/>
          </a:prstGeom>
          <a:solidFill>
            <a:srgbClr val="1A25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3520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cost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63240" y="35204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</a:rPr>
              <a:t>~$0.05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3858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Revenue / sale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38587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B82F6"/>
                </a:solidFill>
              </a:rPr>
              <a:t>$12.00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1298448"/>
            <a:ext cx="19019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137160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</a:rPr>
              <a:t>~99%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800600" y="1920240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Gross margin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per sale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84848" y="1298448"/>
            <a:ext cx="199339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76288" y="1371600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</a:rPr>
              <a:t>$11.95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76288" y="192024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Net profit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per sale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487168"/>
            <a:ext cx="4251960" cy="19385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64608" y="259689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94A3B8"/>
                </a:solidFill>
              </a:rPr>
              <a:t>MONTHLY @ 1,000 PAYING USERS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64608" y="29626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Total infrastructure costs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571232" y="296265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1F5F9"/>
                </a:solidFill>
              </a:rPr>
              <a:t>~$80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64608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Revenue  (1,000 x $12)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571232" y="33832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1F5F9"/>
                </a:solidFill>
              </a:rPr>
              <a:t>$12,000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64608" y="3767328"/>
            <a:ext cx="3950208" cy="18288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64608" y="3840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Net Profit / Month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3840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2C55E"/>
                </a:solidFill>
              </a:rPr>
              <a:t>~$11,920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3B82F6"/>
                </a:solidFill>
              </a:rPr>
              <a:t>COMPETITIVE ADVANTAGE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is doing this for Pakistanis.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Generic AI tools have no local context. Consultants are slow and expensive. ParchiVisa is both fast and specific.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6118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572768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60520" y="1572768"/>
            <a:ext cx="14630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33672" y="1572768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Consultant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15000" y="1572768"/>
            <a:ext cx="14630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88152" y="1572768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Generic 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269480" y="1572768"/>
            <a:ext cx="1435608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42632" y="157276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ParchiVisa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38528"/>
            <a:ext cx="361188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1938528"/>
            <a:ext cx="3511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</a:rPr>
              <a:t>Pakistan-specific context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60520" y="1938528"/>
            <a:ext cx="146304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33672" y="1938528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Yes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15000" y="1938528"/>
            <a:ext cx="146304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88152" y="1938528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No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1938528"/>
            <a:ext cx="1435608" cy="39319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42632" y="1938528"/>
            <a:ext cx="1335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Yes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368296"/>
            <a:ext cx="36118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" y="2368296"/>
            <a:ext cx="3511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</a:rPr>
              <a:t>Instant result (&lt; 5 min)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60520" y="2368296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33672" y="2368296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No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15000" y="2368296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88152" y="2368296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Yes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69480" y="2368296"/>
            <a:ext cx="1435608" cy="39319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42632" y="2368296"/>
            <a:ext cx="1335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Yes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798064"/>
            <a:ext cx="361188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" y="2798064"/>
            <a:ext cx="3511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</a:rPr>
              <a:t>Actionable category fixes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60520" y="2798064"/>
            <a:ext cx="146304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233672" y="2798064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Yes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15000" y="2798064"/>
            <a:ext cx="146304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788152" y="2798064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No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69480" y="2798064"/>
            <a:ext cx="1435608" cy="39319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42632" y="2798064"/>
            <a:ext cx="1335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Yes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227832"/>
            <a:ext cx="36118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0352" y="3227832"/>
            <a:ext cx="3511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</a:rPr>
              <a:t>Price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160520" y="3227832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233672" y="3227832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</a:rPr>
              <a:t>PKR 20K+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15000" y="3227832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788152" y="3227832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</a:rPr>
              <a:t>$0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269480" y="3227832"/>
            <a:ext cx="1435608" cy="39319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342632" y="3227832"/>
            <a:ext cx="1335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</a:rPr>
              <a:t>$12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3657600"/>
            <a:ext cx="361188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30352" y="3657600"/>
            <a:ext cx="3511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</a:rPr>
              <a:t>Covers 5 visa categories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160520" y="3657600"/>
            <a:ext cx="146304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233672" y="3657600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Yes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715000" y="3657600"/>
            <a:ext cx="146304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788152" y="3657600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No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269480" y="3657600"/>
            <a:ext cx="1435608" cy="39319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342632" y="3657600"/>
            <a:ext cx="1335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Yes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4087368"/>
            <a:ext cx="36118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30352" y="4087368"/>
            <a:ext cx="3511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</a:rPr>
              <a:t>No human bottleneck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160520" y="4087368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233672" y="4087368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No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715000" y="4087368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788152" y="4087368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Yes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269480" y="4087368"/>
            <a:ext cx="1435608" cy="39319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342632" y="4087368"/>
            <a:ext cx="1335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Yes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3B82F6"/>
                </a:solidFill>
              </a:rPr>
              <a:t>TRACTION &amp; PRODUCT STATUS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is built. Ready to deploy.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Product is complete. What remains is configuration — not development.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397764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3B82F6"/>
                </a:solidFill>
              </a:rPr>
              <a:t>WHAT'S BUILT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993392"/>
            <a:ext cx="192024" cy="19202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9659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</a:rPr>
              <a:t>Next.js 14 frontend — landing, form, results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2377440"/>
            <a:ext cx="192024" cy="19202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23500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</a:rPr>
              <a:t>FastAPI backend with async PostgreSQL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761488"/>
            <a:ext cx="192024" cy="19202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76148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27340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</a:rPr>
              <a:t>Claude Opus 4.5 AI scoring engine (4 categories)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145536"/>
            <a:ext cx="192024" cy="19202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14553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31181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</a:rPr>
              <a:t>LemonSqueezy payment integration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3529584"/>
            <a:ext cx="192024" cy="19202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52958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" y="35021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</a:rPr>
              <a:t>Resend email report delivery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3913632"/>
            <a:ext cx="192024" cy="19202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91363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" y="38862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</a:rPr>
              <a:t>Webhook-based paid report unlock flow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4297680"/>
            <a:ext cx="192024" cy="19202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429768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42702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</a:rPr>
              <a:t>Full integration tested end-to-end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1481328"/>
            <a:ext cx="416052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16276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F97316"/>
                </a:solidFill>
              </a:rPr>
              <a:t>BEFORE LAUNCH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1993392"/>
            <a:ext cx="192024" cy="192024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199339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20640" y="19659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</a:rPr>
              <a:t>Lock CORS to production domain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2377440"/>
            <a:ext cx="192024" cy="192024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237744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20640" y="23500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</a:rPr>
              <a:t>Add IP-based rate limiting on /submit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2761488"/>
            <a:ext cx="192024" cy="192024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0" y="276148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20640" y="27340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</a:rPr>
              <a:t>Add legal disclaimer (not a lawyer)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3145536"/>
            <a:ext cx="192024" cy="192024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46320" y="314553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20640" y="31181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</a:rPr>
              <a:t>Configure LemonSqueezy product + webhook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46320" y="3529584"/>
            <a:ext cx="192024" cy="192024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320" y="352958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20640" y="35021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</a:rPr>
              <a:t>Verify Resend sending domain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46320" y="3913632"/>
            <a:ext cx="192024" cy="192024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46320" y="391363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20640" y="38862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72A"/>
                </a:solidFill>
              </a:rPr>
              <a:t>Deploy to Railway + Vercel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3B82F6"/>
                </a:solidFill>
              </a:rPr>
              <a:t>GO-TO-MARKET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go where Pakistanis talk about visas.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11480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52144" y="146304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Facebook Groups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105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Pakistan visa &amp; travel groups with 100K-500K members actively sharing rejection stories. Zero-cost organic seeding.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4323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</a:rPr>
              <a:t>500K+ potential reach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298448"/>
            <a:ext cx="411480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83480" y="1481328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95544" y="146304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Reddit &amp; Quora SEO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8105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Target 'Pakistan Schengen visa rejected' queries. High-intent traffic from people who just got rejected.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83480" y="24323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</a:rPr>
              <a:t>High-intent, low cost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898648"/>
            <a:ext cx="411480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081528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YT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52144" y="306324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YouTube / TikTok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4107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Short videos: 'Why your Schengen visa was rejected' — ending with a ParchiVisa CTA. Spreads fast in the diaspora.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4032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97316"/>
                </a:solidFill>
              </a:rPr>
              <a:t>Viral potential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2898648"/>
            <a:ext cx="4114800" cy="144475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83480" y="3081528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8348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B2B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95544" y="306324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Visa Consultants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34107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Partner with consultants on a referral / revenue-share model. They send clients who need a risk assessment first.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83480" y="4032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</a:rPr>
              <a:t>B2B referral pipeline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6268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</a:rPr>
              <a:t>Core insight: every rejection letter creates a motivated, high-intent customer.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3B82F6"/>
                </a:solidFill>
              </a:rPr>
              <a:t>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MVP to visa-tech platform.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Three phases: ship, grow, dominate.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263347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633472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3B82F6"/>
                </a:solidFill>
              </a:rPr>
              <a:t>Phase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94767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Now — Month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17627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</a:rPr>
              <a:t>Launch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57860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</a:rPr>
              <a:t>– </a:t>
            </a:r>
            <a:r>
              <a:rPr lang="en-US" sz="1000" dirty="0">
                <a:solidFill>
                  <a:srgbClr val="64748B"/>
                </a:solidFill>
              </a:rPr>
              <a:t>Fix CORS + rate limiting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</a:rPr>
              <a:t>– </a:t>
            </a:r>
            <a:r>
              <a:rPr lang="en-US" sz="1000" dirty="0">
                <a:solidFill>
                  <a:srgbClr val="64748B"/>
                </a:solidFill>
              </a:rPr>
              <a:t>Configure payments + email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2735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</a:rPr>
              <a:t>– </a:t>
            </a:r>
            <a:r>
              <a:rPr lang="en-US" sz="1000" dirty="0">
                <a:solidFill>
                  <a:srgbClr val="64748B"/>
                </a:solidFill>
              </a:rPr>
              <a:t>Deploy to Railway + Vercel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62102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</a:rPr>
              <a:t>– </a:t>
            </a:r>
            <a:r>
              <a:rPr lang="en-US" sz="1000" dirty="0">
                <a:solidFill>
                  <a:srgbClr val="64748B"/>
                </a:solidFill>
              </a:rPr>
              <a:t>Launch on FB groups + Reddit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9684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</a:rPr>
              <a:t>– </a:t>
            </a:r>
            <a:r>
              <a:rPr lang="en-US" sz="1000" dirty="0">
                <a:solidFill>
                  <a:srgbClr val="64748B"/>
                </a:solidFill>
              </a:rPr>
              <a:t>Add analytics (Posthog)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315968"/>
            <a:ext cx="2267712" cy="256032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31596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Target: First 100 users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1572768"/>
            <a:ext cx="263347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91840" y="1572768"/>
            <a:ext cx="2633472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0" y="171907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8B5CF6"/>
                </a:solidFill>
              </a:rPr>
              <a:t>Phase 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0" y="194767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Month 1 —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217627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</a:rPr>
              <a:t>Growth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74720" y="257860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/>
                </a:solidFill>
              </a:rPr>
              <a:t>– </a:t>
            </a:r>
            <a:r>
              <a:rPr lang="en-US" sz="1000" dirty="0">
                <a:solidFill>
                  <a:srgbClr val="64748B"/>
                </a:solidFill>
              </a:rPr>
              <a:t>SEO for rejection keywords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292608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/>
                </a:solidFill>
              </a:rPr>
              <a:t>– </a:t>
            </a:r>
            <a:r>
              <a:rPr lang="en-US" sz="1000" dirty="0">
                <a:solidFill>
                  <a:srgbClr val="64748B"/>
                </a:solidFill>
              </a:rPr>
              <a:t>Urdu language support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0" y="32735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/>
                </a:solidFill>
              </a:rPr>
              <a:t>– </a:t>
            </a:r>
            <a:r>
              <a:rPr lang="en-US" sz="1000" dirty="0">
                <a:solidFill>
                  <a:srgbClr val="64748B"/>
                </a:solidFill>
              </a:rPr>
              <a:t>PDF report generation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362102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/>
                </a:solidFill>
              </a:rPr>
              <a:t>– </a:t>
            </a:r>
            <a:r>
              <a:rPr lang="en-US" sz="1000" dirty="0">
                <a:solidFill>
                  <a:srgbClr val="64748B"/>
                </a:solidFill>
              </a:rPr>
              <a:t>Referral / affiliate programme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0" y="39684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/>
                </a:solidFill>
              </a:rPr>
              <a:t>– </a:t>
            </a:r>
            <a:r>
              <a:rPr lang="en-US" sz="1000" dirty="0">
                <a:solidFill>
                  <a:srgbClr val="64748B"/>
                </a:solidFill>
              </a:rPr>
              <a:t>User testimonials + social proof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4315968"/>
            <a:ext cx="2267712" cy="256032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0" y="431596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</a:rPr>
              <a:t>Target: $5K MRR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1572768"/>
            <a:ext cx="263347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1572768"/>
            <a:ext cx="2633472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09360" y="171907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22C55E"/>
                </a:solidFill>
              </a:rPr>
              <a:t>Phase 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09360" y="194767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Month 3 —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217627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</a:rPr>
              <a:t>Platform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309360" y="257860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C55E"/>
                </a:solidFill>
              </a:rPr>
              <a:t>– </a:t>
            </a:r>
            <a:r>
              <a:rPr lang="en-US" sz="1000" dirty="0">
                <a:solidFill>
                  <a:srgbClr val="64748B"/>
                </a:solidFill>
              </a:rPr>
              <a:t>Expand: UK, USA, Canada, AU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292608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C55E"/>
                </a:solidFill>
              </a:rPr>
              <a:t>– </a:t>
            </a:r>
            <a:r>
              <a:rPr lang="en-US" sz="1000" dirty="0">
                <a:solidFill>
                  <a:srgbClr val="64748B"/>
                </a:solidFill>
              </a:rPr>
              <a:t>Consultation booking upsell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32735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C55E"/>
                </a:solidFill>
              </a:rPr>
              <a:t>– </a:t>
            </a:r>
            <a:r>
              <a:rPr lang="en-US" sz="1000" dirty="0">
                <a:solidFill>
                  <a:srgbClr val="64748B"/>
                </a:solidFill>
              </a:rPr>
              <a:t>Document checklist generator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362102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C55E"/>
                </a:solidFill>
              </a:rPr>
              <a:t>– </a:t>
            </a:r>
            <a:r>
              <a:rPr lang="en-US" sz="1000" dirty="0">
                <a:solidFill>
                  <a:srgbClr val="64748B"/>
                </a:solidFill>
              </a:rPr>
              <a:t>Mobile app (React Native)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0" y="39684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C55E"/>
                </a:solidFill>
              </a:rPr>
              <a:t>– </a:t>
            </a:r>
            <a:r>
              <a:rPr lang="en-US" sz="1000" dirty="0">
                <a:solidFill>
                  <a:srgbClr val="64748B"/>
                </a:solidFill>
              </a:rPr>
              <a:t>B2B: partner with consultants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09360" y="4315968"/>
            <a:ext cx="2267712" cy="256032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09360" y="431596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Target: $50K+ MRR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3B82F6"/>
                </a:solidFill>
              </a:rPr>
              <a:t>THE TEAM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team. Full-stack execution.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We built the entire product ourselves — no outsourcing, no agency.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160520" cy="3063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664208"/>
            <a:ext cx="914400" cy="9144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</a:rPr>
              <a:t>AA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55648" y="1719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Asad Ahmad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55648" y="20665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</a:rPr>
              <a:t>Co-Founder &amp; Full-Stack Developer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633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</a:rPr>
              <a:t>· </a:t>
            </a:r>
            <a:r>
              <a:rPr lang="en-US" sz="1000" dirty="0">
                <a:solidFill>
                  <a:srgbClr val="94A3B8"/>
                </a:solidFill>
              </a:rPr>
              <a:t>Built the entire MVP — frontend, backend, AI integration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</a:rPr>
              <a:t>· </a:t>
            </a:r>
            <a:r>
              <a:rPr lang="en-US" sz="1000" dirty="0">
                <a:solidFill>
                  <a:srgbClr val="94A3B8"/>
                </a:solidFill>
              </a:rPr>
              <a:t>FastAPI, Next.js, PostgreSQL, Anthropic 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401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</a:rPr>
              <a:t>· </a:t>
            </a:r>
            <a:r>
              <a:rPr lang="en-US" sz="1000" dirty="0">
                <a:solidFill>
                  <a:srgbClr val="94A3B8"/>
                </a:solidFill>
              </a:rPr>
              <a:t>Product strategy and go-to-market execution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64608" y="1508760"/>
            <a:ext cx="4160520" cy="3063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3208" y="1664208"/>
            <a:ext cx="914400" cy="9144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93208" y="16642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</a:rPr>
              <a:t>CF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63056" y="1719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Co-Founder (Name TBD)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63056" y="20665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</a:rPr>
              <a:t>Business Development &amp; Operations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93208" y="2633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</a:rPr>
              <a:t>· </a:t>
            </a:r>
            <a:r>
              <a:rPr lang="en-US" sz="1000" dirty="0">
                <a:solidFill>
                  <a:srgbClr val="94A3B8"/>
                </a:solidFill>
              </a:rPr>
              <a:t>Customer research and market validation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93208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</a:rPr>
              <a:t>· </a:t>
            </a:r>
            <a:r>
              <a:rPr lang="en-US" sz="1000" dirty="0">
                <a:solidFill>
                  <a:srgbClr val="94A3B8"/>
                </a:solidFill>
              </a:rPr>
              <a:t>Marketing, community outreach, Facebook/TikTok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93208" y="3401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</a:rPr>
              <a:t>· </a:t>
            </a:r>
            <a:r>
              <a:rPr lang="en-US" sz="1000" dirty="0">
                <a:solidFill>
                  <a:srgbClr val="94A3B8"/>
                </a:solidFill>
              </a:rPr>
              <a:t>Consultant partnerships and B2B pipeline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681728"/>
            <a:ext cx="84124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" y="4736592"/>
            <a:ext cx="8083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1F5F9"/>
                </a:solidFill>
              </a:rPr>
              <a:t>We know every line of this codebase. We can ship fast, debug fast, and pivot fast.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3B82F6"/>
                </a:solidFill>
              </a:rPr>
              <a:t>THE ASK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from NIC.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1148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99616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9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07008" y="1499616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Workspace &amp; Infrastructure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767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Physical space and cloud credits to run the product without ops cost distractions in the early months.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9744" y="1298448"/>
            <a:ext cx="41148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92624" y="1499616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92624" y="149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59552" y="1499616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Mentorship &amp; Network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92624" y="1920240"/>
            <a:ext cx="3767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Access to mentors on legal compliance, immigration partnerships, and scaling a SaaS product in Pakistan.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41148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3163824"/>
            <a:ext cx="420624" cy="420624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07008" y="316382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Credibility &amp; Exposure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584448"/>
            <a:ext cx="3767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NIC affiliation signals legitimacy to users paying $12 for visa advice — trust is everything for this product.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9744" y="2962656"/>
            <a:ext cx="41148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92624" y="3163824"/>
            <a:ext cx="420624" cy="42062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92624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59552" y="316382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Grant / Seed Funding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92624" y="3584448"/>
            <a:ext cx="3767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Initial runway for 1 marketing hire, paid ads, and 6 months of ops while growing to $5K MRR.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parchivisa.com   |   asadamad81@gmail.com   |   May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1350</Words>
  <Application>Microsoft Office PowerPoint</Application>
  <PresentationFormat>On-screen Show (16:9)</PresentationFormat>
  <Paragraphs>287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ParchiVisa Pitch Deck</dc:title>
  <dc:subject>PptxGenJS Presentation</dc:subject>
  <dc:creator>ParchiVisa</dc:creator>
  <cp:lastModifiedBy>Asad Amad</cp:lastModifiedBy>
  <cp:revision>2</cp:revision>
  <dcterms:created xsi:type="dcterms:W3CDTF">2026-05-15T17:23:09Z</dcterms:created>
  <dcterms:modified xsi:type="dcterms:W3CDTF">2026-05-15T17:38:33Z</dcterms:modified>
</cp:coreProperties>
</file>